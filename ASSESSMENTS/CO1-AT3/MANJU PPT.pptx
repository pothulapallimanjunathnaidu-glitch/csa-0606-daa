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6ECD468-FB7B-44E3-AF80-29FF300955D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Untitled Section" id="{55CD59F4-223A-4F77-83AD-322158174754}">
          <p14:sldIdLst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3F12-C828-4967-48C8-7641E10BA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908BB-D256-CF6C-CDBA-DBA3E176B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27545-67EA-C103-53B0-CB8CA7DF4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A814E-0448-408E-A1CD-D87F70884A7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ECE9C-E83B-93DB-51C8-1B2F20FB4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56C7B-1822-2A84-DE2F-D591196F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9A58-70BC-42DA-BDBD-60CB21BD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44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AB61-94B4-FA43-DDEC-CF808233F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3546-196F-34DA-FB4D-971963262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26EE8-D18D-394F-4AE9-40CE8B01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A814E-0448-408E-A1CD-D87F70884A7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AF5ED-48A9-9349-FBE8-59E8618A6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D67EC-4E02-9B95-D9F8-F8B9E409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9A58-70BC-42DA-BDBD-60CB21BD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44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1C06-73C3-B18B-6DA9-65E33BB09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53C8C-7F46-D1CD-16B8-D404A4C0C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64731-1A98-6D68-F36B-2CF910AF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A814E-0448-408E-A1CD-D87F70884A7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C4BEA-2AD3-D3CB-54EA-2D9151392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B389E-BA2F-1E13-6077-1B19465B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9A58-70BC-42DA-BDBD-60CB21BD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612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5AFE-9CA6-7E09-0783-DD7D6D565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EFE9A-E40E-96BD-6C3C-B65CB91EA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0332-8A8E-2853-7B4A-E7012B34C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279F3-EBFE-ECD3-8E11-B969BBAB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A814E-0448-408E-A1CD-D87F70884A7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83EDD-2A40-8986-1E57-36FCBA3E3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BC1B4-5253-B665-6D91-612B8BD6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9A58-70BC-42DA-BDBD-60CB21BD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454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B57E-5548-43E3-BD18-D200E9639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2A60B-1132-937B-58C8-267293E41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378F2-6D5C-59FC-A6F4-9481B2F66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916130-F5FD-8453-4702-D6495566E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E87823-8BA1-87D1-0E33-B9B2CE58A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975C27-D80A-E057-CB72-51CF5E89D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A814E-0448-408E-A1CD-D87F70884A7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311772-88D6-D050-C3D1-BC362F14B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B36890-14BC-7037-1B11-5BCB5FA1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9A58-70BC-42DA-BDBD-60CB21BD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45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5E95-7BDC-D651-7FE3-EC8F808A7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E5C5AD-0442-B480-B884-D53D13B7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A814E-0448-408E-A1CD-D87F70884A7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59BB4-3F2D-5AD2-C5BB-B68F9B091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87F6E-07F8-ABBE-587E-353E67DE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9A58-70BC-42DA-BDBD-60CB21BD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0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56645-00FE-D8DE-85CB-5A5FA89F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A814E-0448-408E-A1CD-D87F70884A7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E7BC36-D1AC-AD69-5455-7E7C82664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6983B-FC9A-2BFC-CC86-3510AD65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9A58-70BC-42DA-BDBD-60CB21BD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30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35A54-0FA1-E678-EB3D-AC097CFF5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09719-B98D-D574-43C2-162A28141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1BB15-5656-D26B-CC3D-EC8EBEB5B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2A2B9-1BC4-4F71-99F6-88E7527A5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A814E-0448-408E-A1CD-D87F70884A7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B0C7F-ADFF-CAE2-60C6-0C3F3B315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3AA13-C58D-C4FB-A851-B524B2F1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9A58-70BC-42DA-BDBD-60CB21BD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C5866-A52E-9EE8-4A01-753638CC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8E712-F3FF-926F-747F-55FAE375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9A713-29CB-ECEF-22D4-FE541F597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7BC62-1B19-CDEA-9271-0487C2CD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A814E-0448-408E-A1CD-D87F70884A7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1B7B4-8379-9384-3486-F2860949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F45DE-EA48-A6AF-18DC-59408779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9A58-70BC-42DA-BDBD-60CB21BD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648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EF79-A352-9887-ED76-1B4AA96A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59F08-2D20-809C-CD9A-62E33A4C2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BC7E8-379A-F750-96C8-B9AC4891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A814E-0448-408E-A1CD-D87F70884A7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9B479-212E-85C3-CBE8-2445A361B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13BAB-021A-E0CD-1E70-7AB1843F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9A58-70BC-42DA-BDBD-60CB21BD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55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14FD1B-4FEB-7301-D19A-FC11027D8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90CB4-1B5E-90F1-4FE1-6EC42700C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2A415-2DA1-A910-1365-9BEFD1ED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A814E-0448-408E-A1CD-D87F70884A7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AE577-C39A-29E9-F62F-2C84906CF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C75F0-C979-E66B-D37D-B58CB135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9A58-70BC-42DA-BDBD-60CB21BD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70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AC7B6-DD71-8401-8AAC-7807CAF52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50D55-26D7-0DEB-A379-A771D4431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3E14F-F3AF-6619-E6DA-D322AEE60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A814E-0448-408E-A1CD-D87F70884A7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737B9-5D6A-0CDD-7C5F-C4EAD309D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1918E-FBEB-243C-4CA1-7585FC202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69A58-70BC-42DA-BDBD-60CB21BD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235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5B5F-24A3-292A-443C-D2EFAEB32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2258"/>
            <a:ext cx="9144000" cy="1491342"/>
          </a:xfrm>
        </p:spPr>
        <p:txBody>
          <a:bodyPr>
            <a:noAutofit/>
          </a:bodyPr>
          <a:lstStyle/>
          <a:p>
            <a:r>
              <a:rPr lang="en-US" sz="4400" b="1" dirty="0"/>
              <a:t>Space Complexity Analysis of Divide and Conquer Algorithms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BA7138-EBD9-4706-A1FA-2CC9472BE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486" y="4321628"/>
            <a:ext cx="4038600" cy="1611086"/>
          </a:xfrm>
        </p:spPr>
        <p:txBody>
          <a:bodyPr/>
          <a:lstStyle/>
          <a:p>
            <a:pPr algn="l"/>
            <a:r>
              <a:rPr lang="en-IN" dirty="0"/>
              <a:t>NAME:- </a:t>
            </a:r>
            <a:r>
              <a:rPr lang="en-IN" dirty="0" err="1"/>
              <a:t>P.Manjunath</a:t>
            </a:r>
            <a:r>
              <a:rPr lang="en-IN" dirty="0"/>
              <a:t> Naidu</a:t>
            </a:r>
          </a:p>
          <a:p>
            <a:pPr algn="l"/>
            <a:r>
              <a:rPr lang="en-IN" dirty="0"/>
              <a:t>Reg no:-192525431</a:t>
            </a:r>
          </a:p>
          <a:p>
            <a:pPr algn="l"/>
            <a:r>
              <a:rPr lang="en-IN" dirty="0"/>
              <a:t>DEPARTMENT:- CSE AI&amp;ML</a:t>
            </a:r>
          </a:p>
        </p:txBody>
      </p:sp>
    </p:spTree>
    <p:extLst>
      <p:ext uri="{BB962C8B-B14F-4D97-AF65-F5344CB8AC3E}">
        <p14:creationId xmlns:p14="http://schemas.microsoft.com/office/powerpoint/2010/main" val="696742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210A-9CB6-8CBA-7A05-65474AD7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56" y="365125"/>
            <a:ext cx="10178143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Introduction</a:t>
            </a:r>
            <a:endParaRPr lang="en-IN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6307-C8EE-A0E1-3281-D9CD6A689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9285"/>
            <a:ext cx="10515600" cy="37276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Divide and Conquer divides a problem into smaller subproblems.</a:t>
            </a:r>
          </a:p>
          <a:p>
            <a:pPr>
              <a:lnSpc>
                <a:spcPct val="150000"/>
              </a:lnSpc>
            </a:pPr>
            <a:r>
              <a:rPr lang="en-US" dirty="0"/>
              <a:t>Merge Sort is a Divide and Conquer algorithm.</a:t>
            </a:r>
          </a:p>
          <a:p>
            <a:pPr>
              <a:lnSpc>
                <a:spcPct val="150000"/>
              </a:lnSpc>
            </a:pPr>
            <a:r>
              <a:rPr lang="en-US" dirty="0"/>
              <a:t>It recursively divides the array and merges sorted halves.</a:t>
            </a:r>
          </a:p>
          <a:p>
            <a:pPr>
              <a:lnSpc>
                <a:spcPct val="150000"/>
              </a:lnSpc>
            </a:pPr>
            <a:r>
              <a:rPr lang="en-US" dirty="0"/>
              <a:t>This presentation focuses on the space complexity of Merge Sort.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839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D203-C345-13BA-D45D-1AF0501E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C1B45-70B2-E0C9-5AD1-0FAE0BEE9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MergeSort</a:t>
            </a:r>
            <a:r>
              <a:rPr lang="en-US" dirty="0"/>
              <a:t>(A, low, high)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if(low &lt; high)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/>
              <a:t>      mid = (low + high)/2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MergeSort</a:t>
            </a:r>
            <a:r>
              <a:rPr lang="en-US" dirty="0"/>
              <a:t>(A, low, mid)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MergeSort</a:t>
            </a:r>
            <a:r>
              <a:rPr lang="en-US" dirty="0"/>
              <a:t>(A, mid+1, high)</a:t>
            </a:r>
          </a:p>
          <a:p>
            <a:pPr marL="0" indent="0">
              <a:buNone/>
            </a:pPr>
            <a:r>
              <a:rPr lang="en-US" dirty="0"/>
              <a:t>      Merge(A, low, mid, high)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13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3599E-17A5-5366-EF56-B8FAAF04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Working 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5B221-D18E-79CD-A1C5-088B78571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Divide the array.</a:t>
            </a:r>
          </a:p>
          <a:p>
            <a:pPr>
              <a:lnSpc>
                <a:spcPct val="200000"/>
              </a:lnSpc>
            </a:pPr>
            <a:r>
              <a:rPr lang="en-US" dirty="0"/>
              <a:t>Sort left half.</a:t>
            </a:r>
          </a:p>
          <a:p>
            <a:pPr>
              <a:lnSpc>
                <a:spcPct val="200000"/>
              </a:lnSpc>
            </a:pPr>
            <a:r>
              <a:rPr lang="en-US" dirty="0"/>
              <a:t>Sort right half.</a:t>
            </a:r>
          </a:p>
          <a:p>
            <a:pPr>
              <a:lnSpc>
                <a:spcPct val="200000"/>
              </a:lnSpc>
            </a:pPr>
            <a:r>
              <a:rPr lang="en-US" dirty="0"/>
              <a:t>Merge both halves.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009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5C552-4BDB-770A-21FE-208C25D6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Architecture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3CB69-646D-98AA-F4AE-744E78EB4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/>
              <a:t>              Array</a:t>
            </a:r>
          </a:p>
          <a:p>
            <a:pPr marL="0" indent="0" algn="ctr">
              <a:buNone/>
            </a:pPr>
            <a:r>
              <a:rPr lang="en-US" dirty="0"/>
              <a:t>              |</a:t>
            </a:r>
          </a:p>
          <a:p>
            <a:pPr marL="0" indent="0" algn="ctr">
              <a:buNone/>
            </a:pPr>
            <a:r>
              <a:rPr lang="en-US" dirty="0"/>
              <a:t>         Divide into 2</a:t>
            </a:r>
          </a:p>
          <a:p>
            <a:pPr marL="0" indent="0" algn="ctr">
              <a:buNone/>
            </a:pPr>
            <a:r>
              <a:rPr lang="en-US" dirty="0"/>
              <a:t>          /         \</a:t>
            </a:r>
          </a:p>
          <a:p>
            <a:pPr marL="0" indent="0" algn="ctr">
              <a:buNone/>
            </a:pPr>
            <a:r>
              <a:rPr lang="en-US" dirty="0"/>
              <a:t>              Left Half   Right Half</a:t>
            </a:r>
          </a:p>
          <a:p>
            <a:pPr marL="0" indent="0" algn="ctr">
              <a:buNone/>
            </a:pPr>
            <a:r>
              <a:rPr lang="en-US" dirty="0"/>
              <a:t>          \         /</a:t>
            </a:r>
          </a:p>
          <a:p>
            <a:pPr marL="0" indent="0" algn="ctr">
              <a:buNone/>
            </a:pPr>
            <a:r>
              <a:rPr lang="en-US" dirty="0"/>
              <a:t>               Merge Sorted</a:t>
            </a:r>
          </a:p>
          <a:p>
            <a:pPr marL="0" indent="0" algn="ctr">
              <a:buNone/>
            </a:pPr>
            <a:r>
              <a:rPr lang="en-US" dirty="0"/>
              <a:t>              |</a:t>
            </a:r>
          </a:p>
          <a:p>
            <a:pPr marL="0" indent="0" algn="ctr">
              <a:buNone/>
            </a:pPr>
            <a:r>
              <a:rPr lang="en-US" dirty="0"/>
              <a:t>              Sorted Array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shows the recursive Divide and Conquer process.</a:t>
            </a:r>
          </a:p>
          <a:p>
            <a:pPr marL="0" indent="0" algn="ctr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1100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9C8E-985D-4408-CAEA-A7B9921E2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Implementation Code (C)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9736B-BF69-9627-541F-BC801FB72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mergeSort</a:t>
            </a:r>
            <a:r>
              <a:rPr lang="en-US" dirty="0"/>
              <a:t>(int a[], int l, int h)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if(l &lt; h)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int m = (l + h) / 2;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mergeSort</a:t>
            </a:r>
            <a:r>
              <a:rPr lang="en-US" dirty="0"/>
              <a:t>(a, l, m);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mergeSort</a:t>
            </a:r>
            <a:r>
              <a:rPr lang="en-US" dirty="0"/>
              <a:t>(a, m + 1, h);</a:t>
            </a:r>
          </a:p>
          <a:p>
            <a:pPr marL="0" indent="0">
              <a:buNone/>
            </a:pPr>
            <a:r>
              <a:rPr lang="en-US" dirty="0"/>
              <a:t>        merge(a, l, m, h);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787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E64D-40AB-25CE-498B-4B5E511D9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FDAAE-9441-DDF2-AA97-024789CBF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US" dirty="0"/>
              <a:t>Input38 27 43 3 9 82 10</a:t>
            </a:r>
          </a:p>
          <a:p>
            <a:pPr>
              <a:lnSpc>
                <a:spcPct val="300000"/>
              </a:lnSpc>
            </a:pPr>
            <a:r>
              <a:rPr lang="en-US" dirty="0"/>
              <a:t>Output3 9 10 27 38 43 82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3043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294A1-BE2C-B0A1-BF8F-79477F196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Complexity Analysis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67B68C8-10D8-78FA-BE09-904FB201D9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936396"/>
              </p:ext>
            </p:extLst>
          </p:nvPr>
        </p:nvGraphicFramePr>
        <p:xfrm>
          <a:off x="838200" y="1825623"/>
          <a:ext cx="9525000" cy="376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2500">
                  <a:extLst>
                    <a:ext uri="{9D8B030D-6E8A-4147-A177-3AD203B41FA5}">
                      <a16:colId xmlns:a16="http://schemas.microsoft.com/office/drawing/2014/main" val="1160508457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1836473991"/>
                    </a:ext>
                  </a:extLst>
                </a:gridCol>
              </a:tblGrid>
              <a:tr h="628272">
                <a:tc>
                  <a:txBody>
                    <a:bodyPr/>
                    <a:lstStyle/>
                    <a:p>
                      <a:r>
                        <a:rPr lang="en-IN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156727"/>
                  </a:ext>
                </a:extLst>
              </a:tr>
              <a:tr h="628272">
                <a:tc>
                  <a:txBody>
                    <a:bodyPr/>
                    <a:lstStyle/>
                    <a:p>
                      <a:r>
                        <a:rPr lang="en-IN" dirty="0"/>
                        <a:t>Best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 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834233"/>
                  </a:ext>
                </a:extLst>
              </a:tr>
              <a:tr h="628272">
                <a:tc>
                  <a:txBody>
                    <a:bodyPr/>
                    <a:lstStyle/>
                    <a:p>
                      <a:r>
                        <a:rPr lang="en-IN" dirty="0"/>
                        <a:t>Average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 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233347"/>
                  </a:ext>
                </a:extLst>
              </a:tr>
              <a:tr h="628272">
                <a:tc>
                  <a:txBody>
                    <a:bodyPr/>
                    <a:lstStyle/>
                    <a:p>
                      <a:r>
                        <a:rPr lang="en-IN" dirty="0"/>
                        <a:t>Worst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 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873027"/>
                  </a:ext>
                </a:extLst>
              </a:tr>
              <a:tr h="628272">
                <a:tc>
                  <a:txBody>
                    <a:bodyPr/>
                    <a:lstStyle/>
                    <a:p>
                      <a:r>
                        <a:rPr lang="en-IN" dirty="0"/>
                        <a:t>Auxiliary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346351"/>
                  </a:ext>
                </a:extLst>
              </a:tr>
              <a:tr h="628272">
                <a:tc>
                  <a:txBody>
                    <a:bodyPr/>
                    <a:lstStyle/>
                    <a:p>
                      <a:r>
                        <a:rPr lang="en-IN" dirty="0"/>
                        <a:t>Recursion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31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791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E4F2-52C4-6233-B1AC-01FC4742C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Reason: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5E1EF-5011-31CC-311A-F9E00F80D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IN" dirty="0"/>
              <a:t>Temporary array requires O(n) space.</a:t>
            </a:r>
          </a:p>
          <a:p>
            <a:pPr>
              <a:lnSpc>
                <a:spcPct val="200000"/>
              </a:lnSpc>
            </a:pPr>
            <a:r>
              <a:rPr lang="en-IN" dirty="0"/>
              <a:t>Recursive calls require O(log n) stack space.</a:t>
            </a:r>
          </a:p>
          <a:p>
            <a:pPr>
              <a:lnSpc>
                <a:spcPct val="200000"/>
              </a:lnSpc>
            </a:pPr>
            <a:r>
              <a:rPr lang="en-IN" dirty="0"/>
              <a:t>Overall space complexity is O(n).</a:t>
            </a:r>
          </a:p>
        </p:txBody>
      </p:sp>
    </p:spTree>
    <p:extLst>
      <p:ext uri="{BB962C8B-B14F-4D97-AF65-F5344CB8AC3E}">
        <p14:creationId xmlns:p14="http://schemas.microsoft.com/office/powerpoint/2010/main" val="2402233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91249-5D8A-F247-8043-5B5B6CDB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806B5-628D-9318-561B-4AE268D25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Merge Sort is an efficient Divide and Conquer algorithm.</a:t>
            </a:r>
          </a:p>
          <a:p>
            <a:pPr>
              <a:lnSpc>
                <a:spcPct val="200000"/>
              </a:lnSpc>
            </a:pPr>
            <a:r>
              <a:rPr lang="en-US" dirty="0"/>
              <a:t>Time complexity remains O(n log n) in all cases.</a:t>
            </a:r>
          </a:p>
          <a:p>
            <a:pPr>
              <a:lnSpc>
                <a:spcPct val="200000"/>
              </a:lnSpc>
            </a:pPr>
            <a:r>
              <a:rPr lang="en-US" dirty="0"/>
              <a:t>Extra memory requirement is O(n).</a:t>
            </a:r>
          </a:p>
          <a:p>
            <a:pPr>
              <a:lnSpc>
                <a:spcPct val="200000"/>
              </a:lnSpc>
            </a:pPr>
            <a:r>
              <a:rPr lang="en-US" dirty="0"/>
              <a:t>Suitable for large datasets and stable sorting.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682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664A-1797-C83D-7452-15D76F94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BD997-F91B-11AF-0683-235921375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Thomas H. </a:t>
            </a:r>
            <a:r>
              <a:rPr lang="en-IN" dirty="0" err="1"/>
              <a:t>Cormen</a:t>
            </a:r>
            <a:r>
              <a:rPr lang="en-IN" dirty="0"/>
              <a:t> – Introduction to Algorithms (CLRS)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Ellis Horowitz – Fundamentals of Computer Algorithms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Alfred V. Aho – Data Structures and Algorithms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err="1"/>
              <a:t>GeeksforGeeks</a:t>
            </a:r>
            <a:r>
              <a:rPr lang="en-IN" dirty="0"/>
              <a:t> – Merge Sort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err="1"/>
              <a:t>Programiz</a:t>
            </a:r>
            <a:r>
              <a:rPr lang="en-IN" dirty="0"/>
              <a:t> – Merge Sort Tutorial</a:t>
            </a:r>
          </a:p>
        </p:txBody>
      </p:sp>
    </p:spTree>
    <p:extLst>
      <p:ext uri="{BB962C8B-B14F-4D97-AF65-F5344CB8AC3E}">
        <p14:creationId xmlns:p14="http://schemas.microsoft.com/office/powerpoint/2010/main" val="1116542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2315C-69AB-CB52-AE74-468F5FE55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218"/>
            <a:ext cx="10515600" cy="427346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16600" dirty="0"/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2253161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422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Space Complexity Analysis of Divide and Conquer Algorithms</vt:lpstr>
      <vt:lpstr>Introduction</vt:lpstr>
      <vt:lpstr>Algorithm</vt:lpstr>
      <vt:lpstr>Working Steps</vt:lpstr>
      <vt:lpstr>Architecture Design</vt:lpstr>
      <vt:lpstr>Implementation Code (C)</vt:lpstr>
      <vt:lpstr>Output</vt:lpstr>
      <vt:lpstr>Complexity Analysis</vt:lpstr>
      <vt:lpstr>Reason:</vt:lpstr>
      <vt:lpstr> Conclusion</vt:lpstr>
      <vt:lpstr>References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santhosh venkatannagari</dc:creator>
  <cp:lastModifiedBy>CHINNA PANDU</cp:lastModifiedBy>
  <cp:revision>2</cp:revision>
  <dcterms:created xsi:type="dcterms:W3CDTF">2026-07-22T04:16:45Z</dcterms:created>
  <dcterms:modified xsi:type="dcterms:W3CDTF">2026-07-24T18:44:12Z</dcterms:modified>
</cp:coreProperties>
</file>